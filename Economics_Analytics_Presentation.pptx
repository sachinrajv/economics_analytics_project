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1B2B3B">
              <a:alpha val="7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Countries  |  17 Indicators  |  2015 – 2023  |  SQL +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41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Poverty Drivers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252728"/>
            <a:ext cx="391363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GDP, inequality, education &amp; internet access affect poverty rates.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54864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941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91456" y="1252728"/>
            <a:ext cx="391363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7 world regions across 9 years of socioeconomic indicators.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78892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788920"/>
            <a:ext cx="54864" cy="1691640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862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172968"/>
            <a:ext cx="391363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validate the economic shock of the pandemic on all metrics.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88920"/>
            <a:ext cx="54864" cy="1691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862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1456" y="3172968"/>
            <a:ext cx="391363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to predict national poverty rates (R²=0.984).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4681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9456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4681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3192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4681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4681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0664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Global Snapshot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Indicators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961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$58,848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510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avg GDP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8961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7510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poverty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8229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8961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54296" y="17510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avg GDP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67144" y="8229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896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7144" y="8961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67144" y="17510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poverty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6517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27249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28600" y="35798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HDI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41448" y="26517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4D3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41448" y="27249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441448" y="35798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HDI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26517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54296" y="27249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54296" y="35798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literacy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67144" y="2651760"/>
            <a:ext cx="2011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67144" y="2724912"/>
            <a:ext cx="201168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67144" y="3579876"/>
            <a:ext cx="2011680" cy="6080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literacy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countries have 12× higher GDP and 12× lower poverty rates than low-income peers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Side-by-Side (2023)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188720"/>
                <a:gridCol w="822960"/>
                <a:gridCol w="1097280"/>
                <a:gridCol w="1188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Literacy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$58,848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Lower-Middle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ANOVA &amp; T-Test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2062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777240"/>
            <a:ext cx="54864" cy="4114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(2023)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3931920" cy="566928"/>
          </a:xfrm>
          <a:prstGeom prst="rect">
            <a:avLst/>
          </a:prstGeom>
          <a:solidFill>
            <a:srgbClr val="1723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↔ Poverty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−0.871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92808"/>
            <a:ext cx="3931920" cy="566928"/>
          </a:xfrm>
          <a:prstGeom prst="rect">
            <a:avLst/>
          </a:prstGeom>
          <a:solidFill>
            <a:srgbClr val="1723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38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↔ HDI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167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+0.873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19385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51176"/>
            <a:ext cx="3931920" cy="566928"/>
          </a:xfrm>
          <a:prstGeom prst="rect">
            <a:avLst/>
          </a:prstGeom>
          <a:solidFill>
            <a:srgbClr val="1723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96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↔ Poverty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825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+0.671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5968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09544"/>
            <a:ext cx="3931920" cy="566928"/>
          </a:xfrm>
          <a:prstGeom prst="rect">
            <a:avLst/>
          </a:prstGeom>
          <a:solidFill>
            <a:srgbClr val="1723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55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↔ HDI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838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+0.938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2552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3931920" cy="566928"/>
          </a:xfrm>
          <a:prstGeom prst="rect">
            <a:avLst/>
          </a:prstGeom>
          <a:solidFill>
            <a:srgbClr val="1723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13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↔ Poverty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142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−0.976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913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29768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777240"/>
            <a:ext cx="54864" cy="19202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841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HDI ~ Region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11155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9.94  |  p &lt; 0.001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 scores differ significantly across world regions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42976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880360"/>
            <a:ext cx="54864" cy="2011680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9443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GDP Growth 2019 vs 2020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218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13.55  |  p &lt; 0.001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35478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caused a statistically proven collapse in global GDP growth — the sharpest single-year drop in the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Economic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→ 2020 → 2021 Trajectory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92024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Growth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1005840" cy="182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Pre-pandemic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822960"/>
            <a:ext cx="192024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Growth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2468880"/>
            <a:ext cx="1005840" cy="182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shock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192024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Growth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2468880"/>
            <a:ext cx="100584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stimulus-driven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822960"/>
            <a:ext cx="192024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896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90372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Growth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2468880"/>
            <a:ext cx="1005840" cy="18288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700M+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pushed back into poverty by COVID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5176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265176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global GDP contraction in 2020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growth in 2021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04088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most regions returned to pre-COVID HDI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World Regions Compared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8778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07008"/>
            <a:ext cx="914400" cy="27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$38,200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" y="18105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8%  |  HDI: 0.91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95728" y="80467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95728" y="8778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44368" y="1207008"/>
            <a:ext cx="9144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95728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95728" y="18105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15%  |  HDI: 0.87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80467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08576" y="8778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57216" y="1207008"/>
            <a:ext cx="914400" cy="274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08576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8576" y="18105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14%  |  HDI: 0.88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21424" y="80467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4D3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21424" y="8778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East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70064" y="1207008"/>
            <a:ext cx="914400" cy="27432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21424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21424" y="18105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22%  |  HDI: 0.84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272491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896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" y="2798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America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3127248"/>
            <a:ext cx="914400" cy="27432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$10,500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82880" y="3502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2880" y="3730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30%  |  HDI: 0.81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95728" y="272491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395728" y="2798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944368" y="3127248"/>
            <a:ext cx="9144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395728" y="3502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95728" y="3730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28%  |  HDI: 0.82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08576" y="2724912"/>
            <a:ext cx="20116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08576" y="2798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57216" y="3127248"/>
            <a:ext cx="9144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08576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08576" y="3502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GDP/Capita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08576" y="3730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48%  |  HDI: 0.72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 Regression — R² up to 0.984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" y="1810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2057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0.0172   |   CV R²: 0.9618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— most generalisable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154680" y="1810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2057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0.0171   |   CV R²: 0.4574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 — lowest raw error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1810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057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0.0173   |   CV R²: 0.7106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— highest variance explained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(Random Forest)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29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83080" y="3456432"/>
            <a:ext cx="1792224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34290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03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83080" y="3730752"/>
            <a:ext cx="1536192" cy="1463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703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977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83080" y="4005072"/>
            <a:ext cx="1152144" cy="14630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80944" y="39776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25196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251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4279392"/>
            <a:ext cx="896112" cy="146304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42519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9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52628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26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83080" y="4553712"/>
            <a:ext cx="640080" cy="146304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5262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800600"/>
            <a:ext cx="1463040" cy="201168"/>
          </a:xfrm>
          <a:prstGeom prst="rect">
            <a:avLst/>
          </a:prstGeom>
          <a:solidFill>
            <a:srgbClr val="172335"/>
          </a:solidFill>
          <a:ln w="12700">
            <a:solidFill>
              <a:srgbClr val="1723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006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83080" y="4828032"/>
            <a:ext cx="384048" cy="146304"/>
          </a:xfrm>
          <a:prstGeom prst="rect">
            <a:avLst/>
          </a:prstGeom>
          <a:solidFill>
            <a:srgbClr val="8BAFC7"/>
          </a:solidFill>
          <a:ln w="12700">
            <a:solidFill>
              <a:srgbClr val="8BAF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12848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96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8961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 Reduces Poverty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has the strongest single inverse relationship with poverty — r = −0.871.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896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13048" y="8961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= Strongest Proxy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4447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is the best predictor of low poverty (r = −0.976), even stronger than GDP alone.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896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84848" y="8961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Drives Development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4447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spend and literacy correlate with HDI at r = 0.938 — one of the strongest links found.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90779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896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9992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" y="29992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Left a Measurable Scar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" y="35478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confirms the 2020 GDP contraction was statistically significant (t=13.55, p&lt;0.001).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90779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9992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13048" y="29992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Needs Most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5478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 average 48% poverty and 0.72 HDI — the largest development gap by region.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907792"/>
            <a:ext cx="27432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4D3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29992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84848" y="29992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Highly Predictable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5478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achieves R²=0.984, meaning 98.4% of poverty variance is explained by our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457200"/>
            <a:ext cx="4114800" cy="4114800"/>
          </a:xfrm>
          <a:prstGeom prst="ellipse">
            <a:avLst/>
          </a:prstGeom>
          <a:solidFill>
            <a:srgbClr val="1B2B3B">
              <a:alpha val="5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 Poverty Data Analytics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generate_data.py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sql/queries.sql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5× Dashboard PNGs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Word Documentation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SQL + Python | pandas · scikit-learn · matplotlib · seaborn · scipy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Economics &amp; Poverty Analytics</dc:title>
  <dc:subject>PptxGenJS Presentation</dc:subject>
  <dc:creator>Analytics Pipeline</dc:creator>
  <cp:lastModifiedBy>Analytics Pipeline</cp:lastModifiedBy>
  <cp:revision>1</cp:revision>
  <dcterms:created xsi:type="dcterms:W3CDTF">2026-03-23T06:35:24Z</dcterms:created>
  <dcterms:modified xsi:type="dcterms:W3CDTF">2026-03-23T06:35:24Z</dcterms:modified>
</cp:coreProperties>
</file>